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7" autoAdjust="0"/>
    <p:restoredTop sz="83090" autoAdjust="0"/>
  </p:normalViewPr>
  <p:slideViewPr>
    <p:cSldViewPr snapToGrid="0">
      <p:cViewPr varScale="1">
        <p:scale>
          <a:sx n="91" d="100"/>
          <a:sy n="91" d="100"/>
        </p:scale>
        <p:origin x="796" y="64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CF30B228-363C-413A-95CE-251859B46F84}" type="datetime1">
              <a:rPr lang="ko-KR" altLang="en-US"/>
              <a:pPr lvl="0">
                <a:defRPr/>
              </a:pPr>
              <a:t>2026-10-01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DC2D2367-87A9-465B-88F4-3684498FBECC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안녕하세요</a:t>
            </a:r>
            <a:r>
              <a:rPr lang="en-US" altLang="ko-KR" dirty="0"/>
              <a:t>. </a:t>
            </a:r>
            <a:r>
              <a:rPr lang="ko-KR" altLang="en-US" dirty="0"/>
              <a:t>동적 메모리 관리 함수를 발표하게 된 김명준입니다</a:t>
            </a:r>
            <a:r>
              <a:rPr lang="en-US" altLang="ko-KR" dirty="0"/>
              <a:t>.</a:t>
            </a:r>
          </a:p>
          <a:p>
            <a:pPr lvl="0">
              <a:defRPr/>
            </a:pPr>
            <a:r>
              <a:rPr lang="ko-KR" altLang="en-US" dirty="0"/>
              <a:t>저는 문제를 풀면서 가장 기본적인 동적 </a:t>
            </a:r>
            <a:r>
              <a:rPr lang="ko-KR" altLang="en-US"/>
              <a:t>메모리 관리를 정확하게 </a:t>
            </a:r>
            <a:r>
              <a:rPr lang="ko-KR" altLang="en-US" dirty="0"/>
              <a:t>이해하지 못 해</a:t>
            </a:r>
            <a:r>
              <a:rPr lang="en-US" altLang="ko-KR" dirty="0"/>
              <a:t>, </a:t>
            </a:r>
            <a:r>
              <a:rPr lang="ko-KR" altLang="en-US" dirty="0"/>
              <a:t>정확하게 이해를 하고자</a:t>
            </a:r>
            <a:r>
              <a:rPr lang="en-US" altLang="ko-KR" dirty="0"/>
              <a:t> </a:t>
            </a:r>
            <a:r>
              <a:rPr lang="ko-KR" altLang="en-US" dirty="0"/>
              <a:t>이 주제를 </a:t>
            </a:r>
            <a:r>
              <a:rPr lang="ko-KR" altLang="en-US" b="0" dirty="0"/>
              <a:t>선정하였습니다</a:t>
            </a:r>
            <a:r>
              <a:rPr lang="en-US" altLang="ko-KR" b="0" dirty="0"/>
              <a:t>.</a:t>
            </a:r>
          </a:p>
          <a:p>
            <a:pPr lvl="0">
              <a:defRPr/>
            </a:pPr>
            <a:endParaRPr lang="en-US" altLang="ko-KR" dirty="0"/>
          </a:p>
          <a:p>
            <a:pPr lvl="0">
              <a:defRPr/>
            </a:pPr>
            <a:r>
              <a:rPr lang="en-US" altLang="ko-KR" dirty="0"/>
              <a:t>malloc(</a:t>
            </a:r>
            <a:r>
              <a:rPr lang="ko-KR" altLang="en-US" dirty="0" err="1"/>
              <a:t>말록</a:t>
            </a:r>
            <a:r>
              <a:rPr lang="en-US" altLang="ko-KR" dirty="0"/>
              <a:t>)</a:t>
            </a:r>
            <a:r>
              <a:rPr lang="ko-KR" altLang="en-US" dirty="0"/>
              <a:t>은 원하는 크기만큼 </a:t>
            </a:r>
            <a:r>
              <a:rPr lang="ko-KR" altLang="en-US" dirty="0" err="1"/>
              <a:t>힙</a:t>
            </a:r>
            <a:r>
              <a:rPr lang="ko-KR" altLang="en-US" dirty="0"/>
              <a:t> 메모리를 빌려오는 가장 기본적인 함수입니다</a:t>
            </a:r>
            <a:r>
              <a:rPr lang="en-US" altLang="ko-KR" dirty="0"/>
              <a:t>.</a:t>
            </a:r>
          </a:p>
          <a:p>
            <a:pPr lvl="0">
              <a:defRPr/>
            </a:pPr>
            <a:r>
              <a:rPr lang="ko-KR" altLang="en-US" dirty="0" err="1"/>
              <a:t>말록은</a:t>
            </a:r>
            <a:r>
              <a:rPr lang="ko-KR" altLang="en-US" dirty="0"/>
              <a:t> 공간만 빌려줄 뿐 이전에 사용한 쓰레기 값을 남아 있어</a:t>
            </a:r>
            <a:r>
              <a:rPr lang="en-US" altLang="ko-KR" dirty="0"/>
              <a:t>, </a:t>
            </a:r>
            <a:r>
              <a:rPr lang="ko-KR" altLang="en-US" dirty="0"/>
              <a:t>초기화를 하지 않고 사용하면 디버깅 문제를 풀며 자주 보았던 </a:t>
            </a:r>
            <a:r>
              <a:rPr lang="ko-KR" altLang="en-US" dirty="0" err="1"/>
              <a:t>세그멘테이션</a:t>
            </a:r>
            <a:r>
              <a:rPr lang="ko-KR" altLang="en-US" dirty="0"/>
              <a:t> 폴트가 일어나게 됩니다</a:t>
            </a:r>
            <a:r>
              <a:rPr lang="en-US" altLang="ko-KR" dirty="0"/>
              <a:t>.</a:t>
            </a:r>
          </a:p>
          <a:p>
            <a:pPr lvl="0">
              <a:defRPr/>
            </a:pPr>
            <a:endParaRPr lang="en-US" altLang="ko-KR" dirty="0"/>
          </a:p>
          <a:p>
            <a:pPr lvl="0">
              <a:defRPr/>
            </a:pPr>
            <a:r>
              <a:rPr lang="en-US" altLang="ko-KR" dirty="0" err="1"/>
              <a:t>calloc</a:t>
            </a:r>
            <a:r>
              <a:rPr lang="en-US" altLang="ko-KR" dirty="0"/>
              <a:t>(</a:t>
            </a:r>
            <a:r>
              <a:rPr lang="ko-KR" altLang="en-US" dirty="0" err="1"/>
              <a:t>칼록</a:t>
            </a:r>
            <a:r>
              <a:rPr lang="en-US" altLang="ko-KR" dirty="0"/>
              <a:t>)</a:t>
            </a:r>
            <a:r>
              <a:rPr lang="ko-KR" altLang="en-US" dirty="0"/>
              <a:t>은 메모리 공간을 할당하고 모든 비트를 </a:t>
            </a:r>
            <a:r>
              <a:rPr lang="en-US" altLang="ko-KR" dirty="0"/>
              <a:t>0 </a:t>
            </a:r>
            <a:r>
              <a:rPr lang="ko-KR" altLang="en-US" dirty="0"/>
              <a:t>즉</a:t>
            </a:r>
            <a:r>
              <a:rPr lang="en-US" altLang="ko-KR" dirty="0"/>
              <a:t>, NULL</a:t>
            </a:r>
            <a:r>
              <a:rPr lang="ko-KR" altLang="en-US" dirty="0"/>
              <a:t>로 초기화 해주는 함수입니다</a:t>
            </a:r>
            <a:r>
              <a:rPr lang="en-US" altLang="ko-KR" dirty="0"/>
              <a:t>.</a:t>
            </a:r>
          </a:p>
          <a:p>
            <a:pPr lvl="0">
              <a:defRPr/>
            </a:pPr>
            <a:r>
              <a:rPr lang="ko-KR" altLang="en-US" dirty="0" err="1"/>
              <a:t>말록을</a:t>
            </a:r>
            <a:r>
              <a:rPr lang="ko-KR" altLang="en-US" dirty="0"/>
              <a:t> 한 후 </a:t>
            </a:r>
            <a:r>
              <a:rPr lang="en-US" altLang="ko-KR" dirty="0"/>
              <a:t>0</a:t>
            </a:r>
            <a:r>
              <a:rPr lang="ko-KR" altLang="en-US" dirty="0"/>
              <a:t>으로 초기화하는 것과는 다르게 한 번에 작업을 하기 때문에 </a:t>
            </a:r>
            <a:r>
              <a:rPr lang="ko-KR" altLang="en-US" dirty="0" err="1"/>
              <a:t>크래시를</a:t>
            </a:r>
            <a:r>
              <a:rPr lang="ko-KR" altLang="en-US" dirty="0"/>
              <a:t> 원천 차단해줍니다</a:t>
            </a:r>
            <a:r>
              <a:rPr lang="en-US" altLang="ko-KR" dirty="0"/>
              <a:t>.</a:t>
            </a:r>
          </a:p>
          <a:p>
            <a:pPr lvl="0">
              <a:defRPr/>
            </a:pPr>
            <a:r>
              <a:rPr lang="ko-KR" altLang="en-US" dirty="0"/>
              <a:t>그런데도 </a:t>
            </a:r>
            <a:r>
              <a:rPr lang="ko-KR" altLang="en-US" dirty="0" err="1"/>
              <a:t>칼록</a:t>
            </a:r>
            <a:r>
              <a:rPr lang="ko-KR" altLang="en-US" dirty="0"/>
              <a:t> 대신 </a:t>
            </a:r>
            <a:r>
              <a:rPr lang="ko-KR" altLang="en-US" dirty="0" err="1"/>
              <a:t>말록을</a:t>
            </a:r>
            <a:r>
              <a:rPr lang="ko-KR" altLang="en-US" dirty="0"/>
              <a:t> 주로 사용하는 이유는 속도 차이도 있으며 </a:t>
            </a:r>
            <a:r>
              <a:rPr lang="ko-KR" altLang="en-US" dirty="0" err="1"/>
              <a:t>말록을</a:t>
            </a:r>
            <a:r>
              <a:rPr lang="ko-KR" altLang="en-US" dirty="0"/>
              <a:t> 사용하면 다른 값으로 덮어 쓰기 때문에 </a:t>
            </a:r>
            <a:r>
              <a:rPr lang="en-US" altLang="ko-KR" dirty="0"/>
              <a:t>0</a:t>
            </a:r>
            <a:r>
              <a:rPr lang="ko-KR" altLang="en-US" dirty="0"/>
              <a:t>으로 초기화를 할 이유가 없기 때문입니다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DC2D2367-87A9-465B-88F4-3684498FBECC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 err="1"/>
              <a:t>realloc</a:t>
            </a:r>
            <a:r>
              <a:rPr lang="en-US" altLang="ko-KR" dirty="0"/>
              <a:t>(</a:t>
            </a:r>
            <a:r>
              <a:rPr lang="ko-KR" altLang="en-US" dirty="0" err="1"/>
              <a:t>리얼록</a:t>
            </a:r>
            <a:r>
              <a:rPr lang="en-US" altLang="ko-KR" dirty="0"/>
              <a:t>)</a:t>
            </a:r>
            <a:r>
              <a:rPr lang="ko-KR" altLang="en-US" dirty="0"/>
              <a:t>은 이미 할당한 메모리 공간의 크기를 변경할 때 사용합니다</a:t>
            </a:r>
            <a:r>
              <a:rPr lang="en-US" altLang="ko-KR" dirty="0"/>
              <a:t>.</a:t>
            </a:r>
          </a:p>
          <a:p>
            <a:pPr lvl="0">
              <a:defRPr/>
            </a:pPr>
            <a:r>
              <a:rPr lang="ko-KR" altLang="en-US" dirty="0"/>
              <a:t>무작정 메모리 공간을 늘리면 될 것 같지만 메모리 옆 다른 메모리의 공간이 비어 있지 않은 경우가 대부분이기 때문에</a:t>
            </a:r>
            <a:r>
              <a:rPr lang="en-US" altLang="ko-KR" dirty="0"/>
              <a:t>, </a:t>
            </a:r>
            <a:r>
              <a:rPr lang="ko-KR" altLang="en-US" dirty="0"/>
              <a:t>기존 메모리 공간에서 변경한 크기 만큼의 메모리 공간으로 이동하고</a:t>
            </a:r>
            <a:r>
              <a:rPr lang="en-US" altLang="ko-KR" dirty="0"/>
              <a:t>, </a:t>
            </a:r>
            <a:r>
              <a:rPr lang="ko-KR" altLang="en-US" dirty="0"/>
              <a:t>기존 메모리 공간은 </a:t>
            </a:r>
            <a:r>
              <a:rPr lang="en-US" altLang="ko-KR" dirty="0"/>
              <a:t>free</a:t>
            </a:r>
            <a:r>
              <a:rPr lang="ko-KR" altLang="en-US" dirty="0"/>
              <a:t>하여 할당을 해제합니다</a:t>
            </a:r>
            <a:r>
              <a:rPr lang="en-US" altLang="ko-KR" dirty="0"/>
              <a:t>.</a:t>
            </a:r>
          </a:p>
          <a:p>
            <a:pPr lvl="0">
              <a:defRPr/>
            </a:pPr>
            <a:r>
              <a:rPr lang="ko-KR" altLang="en-US" dirty="0"/>
              <a:t>기존 메모리 공간을 이용하여 만든 코드들이 있기 때문에 </a:t>
            </a:r>
            <a:r>
              <a:rPr lang="ko-KR" altLang="ko-KR" b="0" dirty="0"/>
              <a:t>기존 포인터 변수에 새 주소를 넣어주어야, 뒤따라오는 코드들이 새 방을 정상적으로 찾아갈 수 있습니다.</a:t>
            </a:r>
            <a:endParaRPr lang="en-US" altLang="ko-KR" b="0" dirty="0"/>
          </a:p>
          <a:p>
            <a:pPr lvl="0">
              <a:defRPr/>
            </a:pPr>
            <a:endParaRPr lang="en-US" altLang="ko-KR" dirty="0"/>
          </a:p>
          <a:p>
            <a:pPr lvl="0">
              <a:defRPr/>
            </a:pPr>
            <a:r>
              <a:rPr lang="en-US" altLang="ko-KR" dirty="0"/>
              <a:t>free(</a:t>
            </a:r>
            <a:r>
              <a:rPr lang="ko-KR" altLang="en-US" dirty="0"/>
              <a:t>프리</a:t>
            </a:r>
            <a:r>
              <a:rPr lang="en-US" altLang="ko-KR" dirty="0"/>
              <a:t>)</a:t>
            </a:r>
            <a:r>
              <a:rPr lang="ko-KR" altLang="en-US" dirty="0"/>
              <a:t>는 사용한 메모리 공간을 할당 해제해 운영체제에 반납합니다</a:t>
            </a:r>
            <a:r>
              <a:rPr lang="en-US" altLang="ko-KR" dirty="0"/>
              <a:t>.</a:t>
            </a:r>
          </a:p>
          <a:p>
            <a:pPr lvl="0">
              <a:defRPr/>
            </a:pPr>
            <a:r>
              <a:rPr lang="ko-KR" altLang="en-US" dirty="0"/>
              <a:t>반납을 하지 않으면 메모리 누수가 일어나 의미 없는 메모리 차지가 생기게 됩니다</a:t>
            </a:r>
            <a:r>
              <a:rPr lang="en-US" altLang="ko-KR" dirty="0"/>
              <a:t>.</a:t>
            </a:r>
          </a:p>
          <a:p>
            <a:pPr lvl="0">
              <a:defRPr/>
            </a:pPr>
            <a:r>
              <a:rPr lang="ko-KR" altLang="en-US" dirty="0"/>
              <a:t>프리 이후 </a:t>
            </a:r>
            <a:r>
              <a:rPr lang="en-US" altLang="ko-KR" dirty="0" err="1"/>
              <a:t>arr</a:t>
            </a:r>
            <a:r>
              <a:rPr lang="ko-KR" altLang="en-US" dirty="0"/>
              <a:t>에 </a:t>
            </a:r>
            <a:r>
              <a:rPr lang="en-US" altLang="ko-KR" dirty="0"/>
              <a:t>NULL</a:t>
            </a:r>
            <a:r>
              <a:rPr lang="ko-KR" altLang="en-US" dirty="0"/>
              <a:t>을 하는 이유는</a:t>
            </a:r>
            <a:r>
              <a:rPr lang="en-US" altLang="ko-KR" dirty="0"/>
              <a:t>, </a:t>
            </a:r>
            <a:r>
              <a:rPr lang="ko-KR" altLang="en-US" dirty="0"/>
              <a:t>이미 해제한 공간에 또 해제를 하거나 잘못 찾아가는 </a:t>
            </a:r>
            <a:r>
              <a:rPr lang="en-US" altLang="ko-KR" dirty="0"/>
              <a:t>Double Free</a:t>
            </a:r>
            <a:r>
              <a:rPr lang="ko-KR" altLang="en-US" dirty="0"/>
              <a:t>와 </a:t>
            </a:r>
            <a:r>
              <a:rPr lang="en-US" altLang="ko-KR" dirty="0"/>
              <a:t>Use After Free</a:t>
            </a:r>
            <a:r>
              <a:rPr lang="ko-KR" altLang="en-US" dirty="0"/>
              <a:t>가 일어나 강제 종료가 될 수 있기 때문에 </a:t>
            </a:r>
            <a:r>
              <a:rPr lang="en-US" altLang="ko-KR" dirty="0"/>
              <a:t>NULL</a:t>
            </a:r>
            <a:r>
              <a:rPr lang="ko-KR" altLang="en-US" dirty="0"/>
              <a:t>로 초기화해 강제종료를 막기 위해서 입니다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DC2D2367-87A9-465B-88F4-3684498FBECC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B59038-A51E-FB18-9148-D1F2AD4EDA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9AE4D46-CD3F-8498-EF06-ED7E11B026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013F0F-D021-BDFB-3CB5-F142677BA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98925-6325-45F0-B241-16B48302B05D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BD437A-B4B2-F6D3-8F22-61287CE0E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E729DA-3343-B8EE-E97B-34F2B605A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6D477-6A05-497D-953D-432F0493E4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0833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DADE70-11F1-9EA8-F5FF-AA7765FDF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583434-EDD0-71AB-FAA1-17E13DE358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F73BD4-3221-70F8-C1BD-175AAA4A6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98925-6325-45F0-B241-16B48302B05D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14DA7B-DA97-4A27-673A-37C685AB2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3F1B67-B6D0-CB7C-7645-0BBA78C7B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6D477-6A05-497D-953D-432F0493E4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8365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0C7382-1CD8-183E-18F4-D9E4F04A9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2B8D3D6-029D-3B4F-CDAD-0DB9BA4DD3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02346E-424A-BE4F-C5BB-EE5089213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98925-6325-45F0-B241-16B48302B05D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4932C7-EE2C-D492-E9F5-08B959CFE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2A5AF4-4808-9D16-405C-207FD5371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6D477-6A05-497D-953D-432F0493E4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0383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B20B7B-DC84-9014-C660-BACFBC388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5965FA-3969-BB15-8C93-6E83ABF890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D62D1B2-5FC0-83BC-01E7-54E1EEB637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77281E5-8140-AE88-5CCF-523708314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98925-6325-45F0-B241-16B48302B05D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4FD4DCE-E29F-D4BF-0546-4739010B5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A90F4B-E5E6-0ACE-95F1-9A0E97E1A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6D477-6A05-497D-953D-432F0493E4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3846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A3053B-C61A-9087-5364-8490A35E6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E837E4D-52B4-AF83-7C84-C85A3E8EB1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81C0768-1507-13D6-08BD-0944964DB8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0A8006F-02E2-4841-3231-9E33F1D92B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D0F20F0-29FF-326A-1DD4-B2641BA689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C347C29-7154-5BB2-1FD2-6009AEC83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98925-6325-45F0-B241-16B48302B05D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47F7F80-EEC4-3450-2C30-29B681FED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4BB7BB1-C99B-6674-13C2-52FA57D55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6D477-6A05-497D-953D-432F0493E4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9236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2A1AD4-ED68-4D72-34C1-6397992E9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71909EB-9DAD-604E-548E-F81AD12E2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98925-6325-45F0-B241-16B48302B05D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75D223E-F5C9-25AE-025A-0B8B85755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D18CCFD-79B8-0A2F-28EA-B0647AB14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6D477-6A05-497D-953D-432F0493E4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2777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77AB1AD-BFEE-9144-997D-4395BEEC8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98925-6325-45F0-B241-16B48302B05D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0441329-4186-14EE-E716-8FB7D4466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42193B-8D4A-B4B0-6A7F-C9FADD6E5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6D477-6A05-497D-953D-432F0493E4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174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A73364-8378-F5E8-8651-B560D4701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619C019-3CF1-5CD3-ECFF-052A6639FF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F0C03E1-CC4D-DC51-C2B7-3C23375109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ADF79AF-AED7-7D36-B8C7-65674E08A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98925-6325-45F0-B241-16B48302B05D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B581CEE-E4DF-0DD8-24B1-45C77C909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84A27DE-30F0-1E61-6D00-D9CB2B411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6D477-6A05-497D-953D-432F0493E4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7550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5CF2FD-C4E0-DA6D-50F0-678BE351F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E1055F5-636A-8B34-2536-B8F2D130B5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17B7CA7-10D1-BD9B-A9C3-E61E2FDCF1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1E7A7E6-1A69-F58B-A293-073C1416C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98925-6325-45F0-B241-16B48302B05D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D1291D8-9010-9085-BC75-8E4B402BE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3542F55-3B01-1FC7-DC83-9D870CFB2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6D477-6A05-497D-953D-432F0493E4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9617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AAB5D5-17B6-3CB6-4298-FD10B6DE9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DA19499-CE5B-B1E9-0A72-6C23E859EA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F5FCD00-957B-7E85-AF00-B2196DB2F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98925-6325-45F0-B241-16B48302B05D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46D535-1A71-5D93-E53B-887B2275E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BFE246-4A6C-3C87-9086-D38CC232D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6D477-6A05-497D-953D-432F0493E4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3824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F49890E-FAA7-F2E5-838D-E1886CB15C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65C0EAB-DF0F-6F52-1469-B77A7A41B6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579CF9-6C0B-72F0-4E1C-291CDB64C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98925-6325-45F0-B241-16B48302B05D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944EFB-24A1-70E2-72B2-351C2D27E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37BD95-9017-576D-87CE-787950870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6D477-6A05-497D-953D-432F0493E4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1362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924EFD1-51B3-3641-3307-9025FF728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3B60FEB-CBD5-C4AD-0AB9-A7645BF266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2AA112-71EA-4309-E42E-A7D2D41CC4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B98925-6325-45F0-B241-16B48302B05D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267506-E2A4-6B59-067D-AD2BC4AB9F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0FB38B-B3A8-D1EB-9FF9-5E81477E8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F6D477-6A05-497D-953D-432F0493E4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7117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285818" y="494950"/>
            <a:ext cx="11577445" cy="4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400" b="1">
                <a:latin typeface="+mj-lt"/>
              </a:rPr>
              <a:t>트러블 슈팅</a:t>
            </a:r>
            <a:r>
              <a:rPr lang="en-US" altLang="ko-KR" sz="2400" b="1">
                <a:latin typeface="+mj-lt"/>
              </a:rPr>
              <a:t> – </a:t>
            </a:r>
            <a:r>
              <a:rPr lang="ko-KR" altLang="en-US" sz="2400" b="1">
                <a:latin typeface="+mj-lt"/>
              </a:rPr>
              <a:t>동적 메모리 관리 함수</a:t>
            </a:r>
          </a:p>
        </p:txBody>
      </p:sp>
      <p:sp>
        <p:nvSpPr>
          <p:cNvPr id="54" name="사각형: 둥근 모서리 53"/>
          <p:cNvSpPr/>
          <p:nvPr/>
        </p:nvSpPr>
        <p:spPr>
          <a:xfrm>
            <a:off x="895809" y="1768022"/>
            <a:ext cx="4680000" cy="4680000"/>
          </a:xfrm>
          <a:prstGeom prst="roundRect">
            <a:avLst>
              <a:gd name="adj" fmla="val 9049"/>
            </a:avLst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6" name="TextBox 55"/>
          <p:cNvSpPr txBox="1"/>
          <p:nvPr/>
        </p:nvSpPr>
        <p:spPr>
          <a:xfrm>
            <a:off x="1369256" y="1965023"/>
            <a:ext cx="37331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b="1"/>
              <a:t>malloc() – Memory Allocation</a:t>
            </a:r>
          </a:p>
        </p:txBody>
      </p:sp>
      <p:sp>
        <p:nvSpPr>
          <p:cNvPr id="2" name="사각형: 둥근 모서리 1"/>
          <p:cNvSpPr/>
          <p:nvPr/>
        </p:nvSpPr>
        <p:spPr>
          <a:xfrm>
            <a:off x="1114974" y="2531356"/>
            <a:ext cx="4320540" cy="1795288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1114975" y="4450000"/>
            <a:ext cx="4241666" cy="1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200" b="0" dirty="0">
                <a:solidFill>
                  <a:srgbClr val="000000"/>
                </a:solidFill>
                <a:latin typeface="Malgun Gothic"/>
              </a:rPr>
              <a:t>•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원하는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크기만큼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1" dirty="0">
                <a:solidFill>
                  <a:srgbClr val="000000"/>
                </a:solidFill>
                <a:latin typeface="Malgun Gothic"/>
              </a:rPr>
              <a:t>힙(Heap) </a:t>
            </a:r>
            <a:r>
              <a:rPr sz="1200" b="1" dirty="0" err="1">
                <a:solidFill>
                  <a:srgbClr val="000000"/>
                </a:solidFill>
                <a:latin typeface="Malgun Gothic"/>
              </a:rPr>
              <a:t>메모리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를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빌려오는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가장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기본적이고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빠른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함수임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.</a:t>
            </a:r>
            <a:endParaRPr lang="ko-KR" altLang="en-US" sz="1600" b="1" dirty="0"/>
          </a:p>
          <a:p>
            <a:r>
              <a:rPr sz="1200" b="0" dirty="0">
                <a:solidFill>
                  <a:srgbClr val="000000"/>
                </a:solidFill>
                <a:latin typeface="Malgun Gothic"/>
              </a:rPr>
              <a:t>    +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빌려오기만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하면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끝이야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?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컴퓨터가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알아서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다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준비해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줘?</a:t>
            </a:r>
          </a:p>
          <a:p>
            <a:endParaRPr sz="1200" b="0" dirty="0">
              <a:solidFill>
                <a:srgbClr val="000000"/>
              </a:solidFill>
              <a:latin typeface="Malgun Gothic"/>
            </a:endParaRPr>
          </a:p>
          <a:p>
            <a:r>
              <a:rPr sz="1200" b="0" dirty="0">
                <a:solidFill>
                  <a:srgbClr val="000000"/>
                </a:solidFill>
                <a:latin typeface="Malgun Gothic"/>
              </a:rPr>
              <a:t>•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공간만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빌려줄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뿐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청소를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안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해줘서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, </a:t>
            </a:r>
            <a:r>
              <a:rPr sz="1200" b="1" dirty="0" err="1">
                <a:solidFill>
                  <a:srgbClr val="000000"/>
                </a:solidFill>
                <a:latin typeface="Malgun Gothic"/>
              </a:rPr>
              <a:t>이전에</a:t>
            </a:r>
            <a:r>
              <a:rPr sz="1200" b="1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1" dirty="0" err="1">
                <a:solidFill>
                  <a:srgbClr val="000000"/>
                </a:solidFill>
                <a:latin typeface="Malgun Gothic"/>
              </a:rPr>
              <a:t>쓰던</a:t>
            </a:r>
            <a:r>
              <a:rPr sz="1200" b="1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1" dirty="0" err="1">
                <a:solidFill>
                  <a:srgbClr val="000000"/>
                </a:solidFill>
                <a:latin typeface="Malgun Gothic"/>
              </a:rPr>
              <a:t>쓰레기</a:t>
            </a:r>
            <a:r>
              <a:rPr sz="1200" b="1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1" dirty="0" err="1">
                <a:solidFill>
                  <a:srgbClr val="000000"/>
                </a:solidFill>
                <a:latin typeface="Malgun Gothic"/>
              </a:rPr>
              <a:t>값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이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그대로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남아있음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.</a:t>
            </a:r>
          </a:p>
          <a:p>
            <a:r>
              <a:rPr sz="1200" b="0" dirty="0">
                <a:solidFill>
                  <a:srgbClr val="000000"/>
                </a:solidFill>
                <a:latin typeface="Malgun Gothic"/>
              </a:rPr>
              <a:t>•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값을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초기화하지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않고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읽거나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포인터로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쓰면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1" dirty="0">
                <a:solidFill>
                  <a:srgbClr val="000000"/>
                </a:solidFill>
                <a:latin typeface="Malgun Gothic"/>
              </a:rPr>
              <a:t>SIGSEGV </a:t>
            </a:r>
            <a:r>
              <a:rPr sz="1200" b="1" dirty="0" err="1">
                <a:solidFill>
                  <a:srgbClr val="000000"/>
                </a:solidFill>
                <a:latin typeface="Malgun Gothic"/>
              </a:rPr>
              <a:t>크래시</a:t>
            </a:r>
            <a:r>
              <a:rPr sz="1200" b="1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1" dirty="0" err="1">
                <a:solidFill>
                  <a:srgbClr val="000000"/>
                </a:solidFill>
                <a:latin typeface="Malgun Gothic"/>
              </a:rPr>
              <a:t>발생</a:t>
            </a:r>
            <a:r>
              <a:rPr sz="1200" b="1" dirty="0">
                <a:solidFill>
                  <a:srgbClr val="000000"/>
                </a:solidFill>
                <a:latin typeface="Malgun Gothic"/>
              </a:rPr>
              <a:t>!</a:t>
            </a:r>
          </a:p>
        </p:txBody>
      </p:sp>
      <p:sp>
        <p:nvSpPr>
          <p:cNvPr id="12" name="사각형: 둥근 모서리 11"/>
          <p:cNvSpPr/>
          <p:nvPr/>
        </p:nvSpPr>
        <p:spPr>
          <a:xfrm>
            <a:off x="6616194" y="1768022"/>
            <a:ext cx="4680000" cy="4680000"/>
          </a:xfrm>
          <a:prstGeom prst="roundRect">
            <a:avLst>
              <a:gd name="adj" fmla="val 9049"/>
            </a:avLst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7089641" y="1965023"/>
            <a:ext cx="37331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b="1"/>
              <a:t>calloc() – Cleared Allocation</a:t>
            </a:r>
          </a:p>
        </p:txBody>
      </p:sp>
      <p:sp>
        <p:nvSpPr>
          <p:cNvPr id="19" name="사각형: 둥근 모서리 18"/>
          <p:cNvSpPr/>
          <p:nvPr/>
        </p:nvSpPr>
        <p:spPr>
          <a:xfrm>
            <a:off x="6786569" y="2531356"/>
            <a:ext cx="4320540" cy="1795288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6835360" y="4450000"/>
            <a:ext cx="4241666" cy="1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200" b="0" dirty="0">
                <a:solidFill>
                  <a:srgbClr val="000000"/>
                </a:solidFill>
                <a:latin typeface="Malgun Gothic"/>
              </a:rPr>
              <a:t>•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메모리를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할당받자마자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1" dirty="0" err="1">
                <a:solidFill>
                  <a:srgbClr val="000000"/>
                </a:solidFill>
                <a:latin typeface="Malgun Gothic"/>
              </a:rPr>
              <a:t>모든</a:t>
            </a:r>
            <a:r>
              <a:rPr sz="1200" b="1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1" dirty="0" err="1">
                <a:solidFill>
                  <a:srgbClr val="000000"/>
                </a:solidFill>
                <a:latin typeface="Malgun Gothic"/>
              </a:rPr>
              <a:t>비트를</a:t>
            </a:r>
            <a:r>
              <a:rPr sz="1200" b="1" dirty="0">
                <a:solidFill>
                  <a:srgbClr val="000000"/>
                </a:solidFill>
                <a:latin typeface="Malgun Gothic"/>
              </a:rPr>
              <a:t> 0(NULL)</a:t>
            </a:r>
            <a:r>
              <a:rPr sz="1200" b="1" dirty="0" err="1">
                <a:solidFill>
                  <a:srgbClr val="000000"/>
                </a:solidFill>
                <a:latin typeface="Malgun Gothic"/>
              </a:rPr>
              <a:t>으로</a:t>
            </a:r>
            <a:r>
              <a:rPr sz="1200" b="1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1" dirty="0" err="1">
                <a:solidFill>
                  <a:srgbClr val="000000"/>
                </a:solidFill>
                <a:latin typeface="Malgun Gothic"/>
              </a:rPr>
              <a:t>깨끗하게</a:t>
            </a:r>
            <a:r>
              <a:rPr sz="1200" b="1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1" dirty="0" err="1">
                <a:solidFill>
                  <a:srgbClr val="000000"/>
                </a:solidFill>
                <a:latin typeface="Malgun Gothic"/>
              </a:rPr>
              <a:t>초기화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해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줌.</a:t>
            </a:r>
            <a:endParaRPr lang="en-US" altLang="ko-KR" sz="1600" b="1" dirty="0"/>
          </a:p>
          <a:p>
            <a:r>
              <a:rPr sz="1200" b="0" dirty="0">
                <a:solidFill>
                  <a:srgbClr val="000000"/>
                </a:solidFill>
                <a:latin typeface="Malgun Gothic"/>
              </a:rPr>
              <a:t>    + malloc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쓰고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나서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내가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직접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0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넣는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거랑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뭐가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달라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?</a:t>
            </a:r>
          </a:p>
          <a:p>
            <a:endParaRPr sz="1200" b="0" dirty="0">
              <a:solidFill>
                <a:srgbClr val="000000"/>
              </a:solidFill>
              <a:latin typeface="Malgun Gothic"/>
            </a:endParaRPr>
          </a:p>
          <a:p>
            <a:r>
              <a:rPr sz="1200" b="0" dirty="0">
                <a:solidFill>
                  <a:srgbClr val="000000"/>
                </a:solidFill>
                <a:latin typeface="Malgun Gothic"/>
              </a:rPr>
              <a:t>•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할당과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0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청소가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한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번에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이루어져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, </a:t>
            </a:r>
            <a:r>
              <a:rPr sz="1200" b="1" dirty="0" err="1">
                <a:solidFill>
                  <a:srgbClr val="000000"/>
                </a:solidFill>
                <a:latin typeface="Malgun Gothic"/>
              </a:rPr>
              <a:t>초기화</a:t>
            </a:r>
            <a:r>
              <a:rPr sz="1200" b="1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1" dirty="0" err="1">
                <a:solidFill>
                  <a:srgbClr val="000000"/>
                </a:solidFill>
                <a:latin typeface="Malgun Gothic"/>
              </a:rPr>
              <a:t>누락</a:t>
            </a:r>
            <a:r>
              <a:rPr sz="1200" b="1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1" dirty="0" err="1">
                <a:solidFill>
                  <a:srgbClr val="000000"/>
                </a:solidFill>
                <a:latin typeface="Malgun Gothic"/>
              </a:rPr>
              <a:t>버그를</a:t>
            </a:r>
            <a:r>
              <a:rPr sz="1200" b="1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1" dirty="0" err="1">
                <a:solidFill>
                  <a:srgbClr val="000000"/>
                </a:solidFill>
                <a:latin typeface="Malgun Gothic"/>
              </a:rPr>
              <a:t>원천</a:t>
            </a:r>
            <a:r>
              <a:rPr sz="1200" b="1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1" dirty="0" err="1">
                <a:solidFill>
                  <a:srgbClr val="000000"/>
                </a:solidFill>
                <a:latin typeface="Malgun Gothic"/>
              </a:rPr>
              <a:t>차단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함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.</a:t>
            </a:r>
          </a:p>
          <a:p>
            <a:r>
              <a:rPr sz="1200" b="0" dirty="0">
                <a:solidFill>
                  <a:srgbClr val="000000"/>
                </a:solidFill>
                <a:latin typeface="Malgun Gothic"/>
              </a:rPr>
              <a:t>    +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그럼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malloc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대신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항상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calloc만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쓰면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되는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거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아냐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?</a:t>
            </a:r>
          </a:p>
          <a:p>
            <a:endParaRPr sz="1200" b="0" dirty="0">
              <a:solidFill>
                <a:srgbClr val="000000"/>
              </a:solidFill>
              <a:latin typeface="Malgun Gothic"/>
            </a:endParaRPr>
          </a:p>
          <a:p>
            <a:r>
              <a:rPr sz="1200" b="0" dirty="0">
                <a:solidFill>
                  <a:srgbClr val="000000"/>
                </a:solidFill>
                <a:latin typeface="Malgun Gothic"/>
              </a:rPr>
              <a:t>•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모든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메모리를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0으로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미는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작업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때문에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1" dirty="0" err="1">
                <a:solidFill>
                  <a:srgbClr val="000000"/>
                </a:solidFill>
                <a:latin typeface="Malgun Gothic"/>
              </a:rPr>
              <a:t>malloc보다</a:t>
            </a:r>
            <a:r>
              <a:rPr sz="1200" b="1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1" dirty="0" err="1">
                <a:solidFill>
                  <a:srgbClr val="000000"/>
                </a:solidFill>
                <a:latin typeface="Malgun Gothic"/>
              </a:rPr>
              <a:t>미세하게</a:t>
            </a:r>
            <a:r>
              <a:rPr sz="1200" b="1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1" dirty="0" err="1">
                <a:solidFill>
                  <a:srgbClr val="000000"/>
                </a:solidFill>
                <a:latin typeface="Malgun Gothic"/>
              </a:rPr>
              <a:t>느림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.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안전이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우선일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때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사용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!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16269" y="2766714"/>
            <a:ext cx="4320540" cy="1327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1350">
                <a:solidFill>
                  <a:srgbClr val="FF7B72"/>
                </a:solidFill>
                <a:latin typeface="Consolas"/>
              </a:rPr>
              <a:t>int</a:t>
            </a:r>
            <a:r>
              <a:rPr lang="en-US" altLang="ko-KR" sz="1350">
                <a:solidFill>
                  <a:schemeClr val="lt1"/>
                </a:solidFill>
                <a:latin typeface="Consolas"/>
              </a:rPr>
              <a:t> *arr = </a:t>
            </a:r>
            <a:r>
              <a:rPr lang="en-US" altLang="ko-KR" sz="1350">
                <a:solidFill>
                  <a:srgbClr val="CFA5FB"/>
                </a:solidFill>
                <a:latin typeface="Consolas"/>
              </a:rPr>
              <a:t>malloc</a:t>
            </a:r>
            <a:r>
              <a:rPr lang="en-US" altLang="ko-KR" sz="1350">
                <a:solidFill>
                  <a:schemeClr val="lt1"/>
                </a:solidFill>
                <a:latin typeface="Consolas"/>
              </a:rPr>
              <a:t> </a:t>
            </a:r>
            <a:r>
              <a:rPr lang="en-US" altLang="ko-KR" sz="1350">
                <a:solidFill>
                  <a:srgbClr val="FFD700"/>
                </a:solidFill>
                <a:latin typeface="Consolas"/>
              </a:rPr>
              <a:t>(</a:t>
            </a:r>
            <a:r>
              <a:rPr lang="en-US" altLang="ko-KR" sz="1350">
                <a:solidFill>
                  <a:srgbClr val="B4CCA7"/>
                </a:solidFill>
                <a:latin typeface="Consolas"/>
              </a:rPr>
              <a:t>10</a:t>
            </a:r>
            <a:r>
              <a:rPr lang="en-US" altLang="ko-KR" sz="1350">
                <a:solidFill>
                  <a:schemeClr val="lt1"/>
                </a:solidFill>
                <a:latin typeface="Consolas"/>
              </a:rPr>
              <a:t> * </a:t>
            </a:r>
            <a:r>
              <a:rPr lang="en-US" altLang="ko-KR" sz="1350">
                <a:solidFill>
                  <a:srgbClr val="4E9BD5"/>
                </a:solidFill>
                <a:latin typeface="Consolas"/>
              </a:rPr>
              <a:t>sizeof</a:t>
            </a:r>
            <a:r>
              <a:rPr lang="en-US" altLang="ko-KR" sz="1350">
                <a:solidFill>
                  <a:srgbClr val="FFD700"/>
                </a:solidFill>
                <a:latin typeface="Consolas"/>
              </a:rPr>
              <a:t>(</a:t>
            </a:r>
            <a:r>
              <a:rPr lang="en-US" altLang="ko-KR" sz="1350">
                <a:solidFill>
                  <a:srgbClr val="FF7B72"/>
                </a:solidFill>
                <a:latin typeface="Consolas"/>
              </a:rPr>
              <a:t>int</a:t>
            </a:r>
            <a:r>
              <a:rPr lang="en-US" altLang="ko-KR" sz="1350">
                <a:solidFill>
                  <a:srgbClr val="FFD700"/>
                </a:solidFill>
                <a:latin typeface="Consolas"/>
              </a:rPr>
              <a:t>))</a:t>
            </a:r>
            <a:r>
              <a:rPr lang="en-US" altLang="ko-KR" sz="1350">
                <a:solidFill>
                  <a:schemeClr val="lt1"/>
                </a:solidFill>
                <a:latin typeface="Consolas"/>
              </a:rPr>
              <a:t>;</a:t>
            </a:r>
          </a:p>
          <a:p>
            <a:pPr>
              <a:defRPr/>
            </a:pPr>
            <a:endParaRPr lang="en-US" altLang="ko-KR" sz="1350">
              <a:solidFill>
                <a:schemeClr val="lt1"/>
              </a:solidFill>
              <a:latin typeface="Consolas"/>
            </a:endParaRPr>
          </a:p>
          <a:p>
            <a:pPr>
              <a:defRPr/>
            </a:pPr>
            <a:r>
              <a:rPr lang="en-US" altLang="ko-KR" sz="1350">
                <a:solidFill>
                  <a:srgbClr val="8B949E"/>
                </a:solidFill>
                <a:latin typeface="Consolas"/>
              </a:rPr>
              <a:t>/* </a:t>
            </a:r>
          </a:p>
          <a:p>
            <a:pPr>
              <a:defRPr/>
            </a:pPr>
            <a:r>
              <a:rPr lang="en-US" altLang="ko-KR" sz="1350">
                <a:solidFill>
                  <a:srgbClr val="8B949E"/>
                </a:solidFill>
                <a:latin typeface="Consolas"/>
              </a:rPr>
              <a:t>int</a:t>
            </a:r>
            <a:r>
              <a:rPr lang="ko-KR" altLang="en-US" sz="1350">
                <a:solidFill>
                  <a:srgbClr val="8B949E"/>
                </a:solidFill>
                <a:latin typeface="Consolas"/>
              </a:rPr>
              <a:t> </a:t>
            </a:r>
            <a:r>
              <a:rPr lang="en-US" altLang="ko-KR" sz="1350">
                <a:solidFill>
                  <a:srgbClr val="8B949E"/>
                </a:solidFill>
                <a:latin typeface="Consolas"/>
              </a:rPr>
              <a:t>10</a:t>
            </a:r>
            <a:r>
              <a:rPr lang="ko-KR" altLang="en-US" sz="1350">
                <a:solidFill>
                  <a:srgbClr val="8B949E"/>
                </a:solidFill>
                <a:latin typeface="Consolas"/>
              </a:rPr>
              <a:t>개를 담을 공간을 할당 </a:t>
            </a:r>
            <a:r>
              <a:rPr lang="en-US" altLang="ko-KR" sz="1350">
                <a:solidFill>
                  <a:srgbClr val="8B949E"/>
                </a:solidFill>
                <a:latin typeface="Consolas"/>
              </a:rPr>
              <a:t>(40byte)</a:t>
            </a:r>
          </a:p>
          <a:p>
            <a:pPr>
              <a:defRPr/>
            </a:pPr>
            <a:r>
              <a:rPr lang="ko-KR" altLang="en-US" sz="1350">
                <a:solidFill>
                  <a:srgbClr val="8B949E"/>
                </a:solidFill>
                <a:latin typeface="Consolas"/>
              </a:rPr>
              <a:t>지정한 크기 만큼의 메모리 공간을 할당 해줌</a:t>
            </a:r>
          </a:p>
          <a:p>
            <a:pPr>
              <a:defRPr/>
            </a:pPr>
            <a:r>
              <a:rPr lang="en-US" altLang="ko-KR" sz="1350">
                <a:solidFill>
                  <a:srgbClr val="8B949E"/>
                </a:solidFill>
                <a:latin typeface="Consolas"/>
              </a:rPr>
              <a:t>*/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74509" y="2740502"/>
            <a:ext cx="4320540" cy="13247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1350">
                <a:solidFill>
                  <a:srgbClr val="FF7B72"/>
                </a:solidFill>
                <a:latin typeface="Consolas"/>
              </a:rPr>
              <a:t>int</a:t>
            </a:r>
            <a:r>
              <a:rPr lang="en-US" altLang="ko-KR" sz="1350">
                <a:solidFill>
                  <a:schemeClr val="lt1"/>
                </a:solidFill>
                <a:latin typeface="Consolas"/>
              </a:rPr>
              <a:t> *arr = </a:t>
            </a:r>
            <a:r>
              <a:rPr lang="en-US" altLang="ko-KR" sz="1350">
                <a:solidFill>
                  <a:srgbClr val="CFA5ED"/>
                </a:solidFill>
                <a:latin typeface="Consolas"/>
              </a:rPr>
              <a:t>c</a:t>
            </a:r>
            <a:r>
              <a:rPr lang="en-US" altLang="ko-KR" sz="1350">
                <a:solidFill>
                  <a:srgbClr val="CFA5FB"/>
                </a:solidFill>
                <a:latin typeface="Consolas"/>
              </a:rPr>
              <a:t>alloc</a:t>
            </a:r>
            <a:r>
              <a:rPr lang="en-US" altLang="ko-KR" sz="1350">
                <a:solidFill>
                  <a:schemeClr val="lt1"/>
                </a:solidFill>
                <a:latin typeface="Consolas"/>
              </a:rPr>
              <a:t> </a:t>
            </a:r>
            <a:r>
              <a:rPr lang="en-US" altLang="ko-KR" sz="1350">
                <a:solidFill>
                  <a:srgbClr val="FFD700"/>
                </a:solidFill>
                <a:latin typeface="Consolas"/>
              </a:rPr>
              <a:t>(</a:t>
            </a:r>
            <a:r>
              <a:rPr lang="en-US" altLang="ko-KR" sz="1350">
                <a:solidFill>
                  <a:srgbClr val="B4CCA7"/>
                </a:solidFill>
                <a:latin typeface="Consolas"/>
              </a:rPr>
              <a:t>10,</a:t>
            </a:r>
            <a:r>
              <a:rPr lang="en-US" altLang="ko-KR" sz="1350">
                <a:solidFill>
                  <a:schemeClr val="lt1"/>
                </a:solidFill>
                <a:latin typeface="Consolas"/>
              </a:rPr>
              <a:t> </a:t>
            </a:r>
            <a:r>
              <a:rPr lang="en-US" altLang="ko-KR" sz="1350">
                <a:solidFill>
                  <a:srgbClr val="4E9BD5"/>
                </a:solidFill>
                <a:latin typeface="Consolas"/>
              </a:rPr>
              <a:t>sizeof</a:t>
            </a:r>
            <a:r>
              <a:rPr lang="en-US" altLang="ko-KR" sz="1350">
                <a:solidFill>
                  <a:srgbClr val="FFD700"/>
                </a:solidFill>
                <a:latin typeface="Consolas"/>
              </a:rPr>
              <a:t>(</a:t>
            </a:r>
            <a:r>
              <a:rPr lang="en-US" altLang="ko-KR" sz="1350">
                <a:solidFill>
                  <a:srgbClr val="FF7B72"/>
                </a:solidFill>
                <a:latin typeface="Consolas"/>
              </a:rPr>
              <a:t>int</a:t>
            </a:r>
            <a:r>
              <a:rPr lang="en-US" altLang="ko-KR" sz="1350">
                <a:solidFill>
                  <a:srgbClr val="FFD700"/>
                </a:solidFill>
                <a:latin typeface="Consolas"/>
              </a:rPr>
              <a:t>))</a:t>
            </a:r>
            <a:r>
              <a:rPr lang="en-US" altLang="ko-KR" sz="1350">
                <a:solidFill>
                  <a:schemeClr val="lt1"/>
                </a:solidFill>
                <a:latin typeface="Consolas"/>
              </a:rPr>
              <a:t>;</a:t>
            </a:r>
          </a:p>
          <a:p>
            <a:pPr>
              <a:defRPr/>
            </a:pPr>
            <a:endParaRPr lang="en-US" altLang="ko-KR" sz="1350">
              <a:solidFill>
                <a:schemeClr val="lt1"/>
              </a:solidFill>
              <a:latin typeface="Consolas"/>
            </a:endParaRPr>
          </a:p>
          <a:p>
            <a:pPr>
              <a:defRPr/>
            </a:pPr>
            <a:r>
              <a:rPr lang="en-US" altLang="ko-KR" sz="1350">
                <a:solidFill>
                  <a:srgbClr val="8B949E"/>
                </a:solidFill>
                <a:latin typeface="Consolas"/>
              </a:rPr>
              <a:t>/* </a:t>
            </a:r>
          </a:p>
          <a:p>
            <a:pPr>
              <a:defRPr/>
            </a:pPr>
            <a:r>
              <a:rPr lang="en-US" altLang="ko-KR" sz="1350">
                <a:solidFill>
                  <a:srgbClr val="8B949E"/>
                </a:solidFill>
                <a:latin typeface="Consolas"/>
              </a:rPr>
              <a:t>int</a:t>
            </a:r>
            <a:r>
              <a:rPr lang="ko-KR" altLang="en-US" sz="1350">
                <a:solidFill>
                  <a:srgbClr val="8B949E"/>
                </a:solidFill>
                <a:latin typeface="Consolas"/>
              </a:rPr>
              <a:t> </a:t>
            </a:r>
            <a:r>
              <a:rPr lang="en-US" altLang="ko-KR" sz="1350">
                <a:solidFill>
                  <a:srgbClr val="8B949E"/>
                </a:solidFill>
                <a:latin typeface="Consolas"/>
              </a:rPr>
              <a:t>10</a:t>
            </a:r>
            <a:r>
              <a:rPr lang="ko-KR" altLang="en-US" sz="1350">
                <a:solidFill>
                  <a:srgbClr val="8B949E"/>
                </a:solidFill>
                <a:latin typeface="Consolas"/>
              </a:rPr>
              <a:t>개를 담을 공간을 할당 </a:t>
            </a:r>
            <a:r>
              <a:rPr lang="en-US" altLang="ko-KR" sz="1350">
                <a:solidFill>
                  <a:srgbClr val="8B949E"/>
                </a:solidFill>
                <a:latin typeface="Consolas"/>
              </a:rPr>
              <a:t>(40byte)</a:t>
            </a:r>
          </a:p>
          <a:p>
            <a:pPr>
              <a:defRPr/>
            </a:pPr>
            <a:r>
              <a:rPr lang="ko-KR" altLang="en-US" sz="1350">
                <a:solidFill>
                  <a:srgbClr val="8B949E"/>
                </a:solidFill>
                <a:latin typeface="Consolas"/>
              </a:rPr>
              <a:t>메모리 안에 있는 쓰레기 값을 </a:t>
            </a:r>
            <a:r>
              <a:rPr lang="en-US" altLang="ko-KR" sz="1350">
                <a:solidFill>
                  <a:srgbClr val="8B949E"/>
                </a:solidFill>
                <a:latin typeface="Consolas"/>
              </a:rPr>
              <a:t>0(NULL)</a:t>
            </a:r>
            <a:r>
              <a:rPr lang="ko-KR" altLang="en-US" sz="1350">
                <a:solidFill>
                  <a:srgbClr val="8B949E"/>
                </a:solidFill>
                <a:latin typeface="Consolas"/>
              </a:rPr>
              <a:t>으로 정리</a:t>
            </a:r>
          </a:p>
          <a:p>
            <a:pPr>
              <a:defRPr/>
            </a:pPr>
            <a:r>
              <a:rPr lang="en-US" altLang="ko-KR" sz="1350">
                <a:solidFill>
                  <a:srgbClr val="8B949E"/>
                </a:solidFill>
                <a:latin typeface="Consolas"/>
              </a:rPr>
              <a:t>*/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285818" y="494950"/>
            <a:ext cx="11577445" cy="4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400" b="1">
                <a:latin typeface="+mj-lt"/>
              </a:rPr>
              <a:t>트러블 슈팅</a:t>
            </a:r>
            <a:r>
              <a:rPr lang="en-US" altLang="ko-KR" sz="2400" b="1">
                <a:latin typeface="+mj-lt"/>
              </a:rPr>
              <a:t> – </a:t>
            </a:r>
            <a:r>
              <a:rPr lang="ko-KR" altLang="en-US" sz="2400" b="1">
                <a:latin typeface="+mj-lt"/>
              </a:rPr>
              <a:t>동적 메모리 관리 함수</a:t>
            </a:r>
          </a:p>
        </p:txBody>
      </p:sp>
      <p:sp>
        <p:nvSpPr>
          <p:cNvPr id="54" name="사각형: 둥근 모서리 53"/>
          <p:cNvSpPr/>
          <p:nvPr/>
        </p:nvSpPr>
        <p:spPr>
          <a:xfrm>
            <a:off x="895809" y="1768022"/>
            <a:ext cx="4680000" cy="4680000"/>
          </a:xfrm>
          <a:prstGeom prst="roundRect">
            <a:avLst>
              <a:gd name="adj" fmla="val 9049"/>
            </a:avLst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6" name="TextBox 55"/>
          <p:cNvSpPr txBox="1"/>
          <p:nvPr/>
        </p:nvSpPr>
        <p:spPr>
          <a:xfrm>
            <a:off x="1369258" y="1933202"/>
            <a:ext cx="37331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b="1" dirty="0" err="1"/>
              <a:t>realloc</a:t>
            </a:r>
            <a:r>
              <a:rPr b="1" dirty="0"/>
              <a:t>() – Re-Allocation</a:t>
            </a:r>
            <a:endParaRPr lang="en-US" altLang="ko-KR" b="1" dirty="0"/>
          </a:p>
        </p:txBody>
      </p:sp>
      <p:sp>
        <p:nvSpPr>
          <p:cNvPr id="2" name="사각형: 둥근 모서리 1"/>
          <p:cNvSpPr/>
          <p:nvPr/>
        </p:nvSpPr>
        <p:spPr>
          <a:xfrm>
            <a:off x="980197" y="2432743"/>
            <a:ext cx="4500562" cy="185846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1114976" y="4362322"/>
            <a:ext cx="4241666" cy="1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200" b="0" dirty="0">
                <a:solidFill>
                  <a:srgbClr val="000000"/>
                </a:solidFill>
                <a:latin typeface="Malgun Gothic"/>
              </a:rPr>
              <a:t>•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이미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빌려둔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1" dirty="0" err="1">
                <a:solidFill>
                  <a:srgbClr val="000000"/>
                </a:solidFill>
                <a:latin typeface="Malgun Gothic"/>
              </a:rPr>
              <a:t>메모리의</a:t>
            </a:r>
            <a:r>
              <a:rPr sz="1200" b="1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1" dirty="0" err="1">
                <a:solidFill>
                  <a:srgbClr val="000000"/>
                </a:solidFill>
                <a:latin typeface="Malgun Gothic"/>
              </a:rPr>
              <a:t>크기를</a:t>
            </a:r>
            <a:r>
              <a:rPr sz="1200" b="1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1" dirty="0" err="1">
                <a:solidFill>
                  <a:srgbClr val="000000"/>
                </a:solidFill>
                <a:latin typeface="Malgun Gothic"/>
              </a:rPr>
              <a:t>늘리거나</a:t>
            </a:r>
            <a:r>
              <a:rPr sz="1200" b="1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1" dirty="0" err="1">
                <a:solidFill>
                  <a:srgbClr val="000000"/>
                </a:solidFill>
                <a:latin typeface="Malgun Gothic"/>
              </a:rPr>
              <a:t>줄일</a:t>
            </a:r>
            <a:r>
              <a:rPr sz="1200" b="1" dirty="0">
                <a:solidFill>
                  <a:srgbClr val="000000"/>
                </a:solidFill>
                <a:latin typeface="Malgun Gothic"/>
              </a:rPr>
              <a:t> 때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사용함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.</a:t>
            </a:r>
            <a:endParaRPr lang="ko-KR" altLang="en-US" sz="1600" b="1" dirty="0"/>
          </a:p>
          <a:p>
            <a:r>
              <a:rPr sz="1200" b="0" dirty="0">
                <a:solidFill>
                  <a:srgbClr val="000000"/>
                </a:solidFill>
                <a:latin typeface="Malgun Gothic"/>
              </a:rPr>
              <a:t>    +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그냥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살던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방 벽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터서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제자리에서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늘리면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되는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거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아냐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?</a:t>
            </a:r>
          </a:p>
          <a:p>
            <a:endParaRPr sz="1200" b="0" dirty="0">
              <a:solidFill>
                <a:srgbClr val="000000"/>
              </a:solidFill>
              <a:latin typeface="Malgun Gothic"/>
            </a:endParaRPr>
          </a:p>
          <a:p>
            <a:r>
              <a:rPr sz="1200" b="0" dirty="0">
                <a:solidFill>
                  <a:srgbClr val="000000"/>
                </a:solidFill>
                <a:latin typeface="Malgun Gothic"/>
              </a:rPr>
              <a:t>• 옆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방에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다른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데이터가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살고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있으면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1" dirty="0" err="1">
                <a:solidFill>
                  <a:srgbClr val="000000"/>
                </a:solidFill>
                <a:latin typeface="Malgun Gothic"/>
              </a:rPr>
              <a:t>짐을</a:t>
            </a:r>
            <a:r>
              <a:rPr sz="1200" b="1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1" dirty="0" err="1">
                <a:solidFill>
                  <a:srgbClr val="000000"/>
                </a:solidFill>
                <a:latin typeface="Malgun Gothic"/>
              </a:rPr>
              <a:t>몽땅</a:t>
            </a:r>
            <a:r>
              <a:rPr sz="1200" b="1" dirty="0">
                <a:solidFill>
                  <a:srgbClr val="000000"/>
                </a:solidFill>
                <a:latin typeface="Malgun Gothic"/>
              </a:rPr>
              <a:t> 새 </a:t>
            </a:r>
            <a:r>
              <a:rPr sz="1200" b="1" dirty="0" err="1">
                <a:solidFill>
                  <a:srgbClr val="000000"/>
                </a:solidFill>
                <a:latin typeface="Malgun Gothic"/>
              </a:rPr>
              <a:t>집으로</a:t>
            </a:r>
            <a:r>
              <a:rPr sz="1200" b="1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1" dirty="0" err="1">
                <a:solidFill>
                  <a:srgbClr val="000000"/>
                </a:solidFill>
                <a:latin typeface="Malgun Gothic"/>
              </a:rPr>
              <a:t>옮겨주고</a:t>
            </a:r>
            <a:r>
              <a:rPr sz="1200" b="1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1" dirty="0" err="1">
                <a:solidFill>
                  <a:srgbClr val="000000"/>
                </a:solidFill>
                <a:latin typeface="Malgun Gothic"/>
              </a:rPr>
              <a:t>예전</a:t>
            </a:r>
            <a:r>
              <a:rPr sz="1200" b="1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1" dirty="0" err="1">
                <a:solidFill>
                  <a:srgbClr val="000000"/>
                </a:solidFill>
                <a:latin typeface="Malgun Gothic"/>
              </a:rPr>
              <a:t>집은</a:t>
            </a:r>
            <a:r>
              <a:rPr sz="1200" b="1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1" dirty="0" err="1">
                <a:solidFill>
                  <a:srgbClr val="000000"/>
                </a:solidFill>
                <a:latin typeface="Malgun Gothic"/>
              </a:rPr>
              <a:t>폭파</a:t>
            </a:r>
            <a:r>
              <a:rPr sz="1200" b="1" dirty="0">
                <a:solidFill>
                  <a:srgbClr val="000000"/>
                </a:solidFill>
                <a:latin typeface="Malgun Gothic"/>
              </a:rPr>
              <a:t>(free)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함.</a:t>
            </a:r>
          </a:p>
          <a:p>
            <a:r>
              <a:rPr sz="1200" b="0" dirty="0">
                <a:solidFill>
                  <a:srgbClr val="000000"/>
                </a:solidFill>
                <a:latin typeface="Malgun Gothic"/>
              </a:rPr>
              <a:t>    +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그럼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왜 </a:t>
            </a:r>
            <a:r>
              <a:rPr sz="1200" b="1" dirty="0" err="1">
                <a:solidFill>
                  <a:srgbClr val="000000"/>
                </a:solidFill>
                <a:latin typeface="Malgun Gothic"/>
              </a:rPr>
              <a:t>arr</a:t>
            </a:r>
            <a:r>
              <a:rPr sz="1200" b="1" dirty="0">
                <a:solidFill>
                  <a:srgbClr val="000000"/>
                </a:solidFill>
                <a:latin typeface="Malgun Gothic"/>
              </a:rPr>
              <a:t> = </a:t>
            </a:r>
            <a:r>
              <a:rPr sz="1200" b="1" dirty="0" err="1">
                <a:solidFill>
                  <a:srgbClr val="000000"/>
                </a:solidFill>
                <a:latin typeface="Malgun Gothic"/>
              </a:rPr>
              <a:t>new_arr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로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대입해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?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new_arr에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arr을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넣어야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하는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거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아냐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?</a:t>
            </a:r>
          </a:p>
          <a:p>
            <a:endParaRPr sz="1200" b="0" dirty="0">
              <a:solidFill>
                <a:srgbClr val="000000"/>
              </a:solidFill>
              <a:latin typeface="Malgun Gothic"/>
            </a:endParaRPr>
          </a:p>
          <a:p>
            <a:r>
              <a:rPr sz="1200" b="0" dirty="0">
                <a:solidFill>
                  <a:srgbClr val="000000"/>
                </a:solidFill>
                <a:latin typeface="Malgun Gothic"/>
              </a:rPr>
              <a:t>•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realloc이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이미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새 집(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new_arr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)에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짐을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다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옮겨뒀기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때문에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, </a:t>
            </a:r>
            <a:r>
              <a:rPr sz="1200" b="1" dirty="0" err="1">
                <a:solidFill>
                  <a:srgbClr val="000000"/>
                </a:solidFill>
                <a:latin typeface="Malgun Gothic"/>
              </a:rPr>
              <a:t>주소록</a:t>
            </a:r>
            <a:r>
              <a:rPr sz="1200" b="1" dirty="0">
                <a:solidFill>
                  <a:srgbClr val="000000"/>
                </a:solidFill>
                <a:latin typeface="Malgun Gothic"/>
              </a:rPr>
              <a:t>(</a:t>
            </a:r>
            <a:r>
              <a:rPr sz="1200" b="1" dirty="0" err="1">
                <a:solidFill>
                  <a:srgbClr val="000000"/>
                </a:solidFill>
                <a:latin typeface="Malgun Gothic"/>
              </a:rPr>
              <a:t>arr</a:t>
            </a:r>
            <a:r>
              <a:rPr sz="1200" b="1" dirty="0">
                <a:solidFill>
                  <a:srgbClr val="000000"/>
                </a:solidFill>
                <a:latin typeface="Malgun Gothic"/>
              </a:rPr>
              <a:t>)만 새 </a:t>
            </a:r>
            <a:r>
              <a:rPr sz="1200" b="1" dirty="0" err="1">
                <a:solidFill>
                  <a:srgbClr val="000000"/>
                </a:solidFill>
                <a:latin typeface="Malgun Gothic"/>
              </a:rPr>
              <a:t>주소로</a:t>
            </a:r>
            <a:r>
              <a:rPr sz="1200" b="1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1" dirty="0" err="1">
                <a:solidFill>
                  <a:srgbClr val="000000"/>
                </a:solidFill>
                <a:latin typeface="Malgun Gothic"/>
              </a:rPr>
              <a:t>갱신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하면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됨!</a:t>
            </a:r>
          </a:p>
        </p:txBody>
      </p:sp>
      <p:sp>
        <p:nvSpPr>
          <p:cNvPr id="12" name="사각형: 둥근 모서리 11"/>
          <p:cNvSpPr/>
          <p:nvPr/>
        </p:nvSpPr>
        <p:spPr>
          <a:xfrm>
            <a:off x="6616194" y="1768022"/>
            <a:ext cx="4680000" cy="4680000"/>
          </a:xfrm>
          <a:prstGeom prst="roundRect">
            <a:avLst>
              <a:gd name="adj" fmla="val 9049"/>
            </a:avLst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7089641" y="1965023"/>
            <a:ext cx="37331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b="1"/>
              <a:t>free() – Memory Free</a:t>
            </a:r>
            <a:endParaRPr lang="en-US" altLang="ko-KR" b="1"/>
          </a:p>
        </p:txBody>
      </p:sp>
      <p:sp>
        <p:nvSpPr>
          <p:cNvPr id="19" name="사각형: 둥근 모서리 18"/>
          <p:cNvSpPr/>
          <p:nvPr/>
        </p:nvSpPr>
        <p:spPr>
          <a:xfrm>
            <a:off x="6776850" y="2531356"/>
            <a:ext cx="4320540" cy="1430811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6835358" y="4193647"/>
            <a:ext cx="4241666" cy="1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200" b="0" dirty="0">
                <a:solidFill>
                  <a:srgbClr val="000000"/>
                </a:solidFill>
                <a:latin typeface="Malgun Gothic"/>
              </a:rPr>
              <a:t>• 다 쓴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동적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메모리를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1" dirty="0" err="1">
                <a:solidFill>
                  <a:srgbClr val="000000"/>
                </a:solidFill>
                <a:latin typeface="Malgun Gothic"/>
              </a:rPr>
              <a:t>운영체제</a:t>
            </a:r>
            <a:r>
              <a:rPr sz="1200" b="1" dirty="0">
                <a:solidFill>
                  <a:srgbClr val="000000"/>
                </a:solidFill>
                <a:latin typeface="Malgun Gothic"/>
              </a:rPr>
              <a:t>(OS)에 </a:t>
            </a:r>
            <a:r>
              <a:rPr sz="1200" b="1" dirty="0" err="1">
                <a:solidFill>
                  <a:srgbClr val="000000"/>
                </a:solidFill>
                <a:latin typeface="Malgun Gothic"/>
              </a:rPr>
              <a:t>반납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함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.</a:t>
            </a:r>
            <a:endParaRPr lang="en-US" altLang="ko-KR" sz="1600" b="1" dirty="0"/>
          </a:p>
          <a:p>
            <a:r>
              <a:rPr sz="1200" b="0" dirty="0">
                <a:solidFill>
                  <a:srgbClr val="000000"/>
                </a:solidFill>
                <a:latin typeface="Malgun Gothic"/>
              </a:rPr>
              <a:t>    +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반납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안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하면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어떻게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되는데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?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컴퓨터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끄면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어차피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사라지잖아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?</a:t>
            </a:r>
          </a:p>
          <a:p>
            <a:endParaRPr sz="1200" b="0" dirty="0">
              <a:solidFill>
                <a:srgbClr val="000000"/>
              </a:solidFill>
              <a:latin typeface="Malgun Gothic"/>
            </a:endParaRPr>
          </a:p>
          <a:p>
            <a:r>
              <a:rPr sz="1200" b="0" dirty="0">
                <a:solidFill>
                  <a:srgbClr val="000000"/>
                </a:solidFill>
                <a:latin typeface="Malgun Gothic"/>
              </a:rPr>
              <a:t>•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프로그램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실행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중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반납하지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않은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메모리는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계속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누적되어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1" dirty="0" err="1">
                <a:solidFill>
                  <a:srgbClr val="000000"/>
                </a:solidFill>
                <a:latin typeface="Malgun Gothic"/>
              </a:rPr>
              <a:t>메모리</a:t>
            </a:r>
            <a:r>
              <a:rPr sz="1200" b="1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1" dirty="0" err="1">
                <a:solidFill>
                  <a:srgbClr val="000000"/>
                </a:solidFill>
                <a:latin typeface="Malgun Gothic"/>
              </a:rPr>
              <a:t>누수</a:t>
            </a:r>
            <a:r>
              <a:rPr sz="1200" b="1" dirty="0">
                <a:solidFill>
                  <a:srgbClr val="000000"/>
                </a:solidFill>
                <a:latin typeface="Malgun Gothic"/>
              </a:rPr>
              <a:t>(Memory Leak)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가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발생함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.</a:t>
            </a:r>
          </a:p>
          <a:p>
            <a:r>
              <a:rPr sz="1200" b="0" dirty="0">
                <a:solidFill>
                  <a:srgbClr val="000000"/>
                </a:solidFill>
                <a:latin typeface="Malgun Gothic"/>
              </a:rPr>
              <a:t>    +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그럼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free하고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나서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왜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굳이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1" dirty="0" err="1">
                <a:solidFill>
                  <a:srgbClr val="000000"/>
                </a:solidFill>
                <a:latin typeface="Malgun Gothic"/>
              </a:rPr>
              <a:t>arr</a:t>
            </a:r>
            <a:r>
              <a:rPr sz="1200" b="1" dirty="0">
                <a:solidFill>
                  <a:srgbClr val="000000"/>
                </a:solidFill>
                <a:latin typeface="Malgun Gothic"/>
              </a:rPr>
              <a:t> = </a:t>
            </a:r>
            <a:r>
              <a:rPr sz="1200" b="1" dirty="0" err="1">
                <a:solidFill>
                  <a:srgbClr val="000000"/>
                </a:solidFill>
                <a:latin typeface="Malgun Gothic"/>
              </a:rPr>
              <a:t>NULL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을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해?</a:t>
            </a:r>
          </a:p>
          <a:p>
            <a:endParaRPr sz="1200" b="0" dirty="0">
              <a:solidFill>
                <a:srgbClr val="000000"/>
              </a:solidFill>
              <a:latin typeface="Malgun Gothic"/>
            </a:endParaRPr>
          </a:p>
          <a:p>
            <a:r>
              <a:rPr sz="1200" b="0" dirty="0">
                <a:solidFill>
                  <a:srgbClr val="000000"/>
                </a:solidFill>
                <a:latin typeface="Malgun Gothic"/>
              </a:rPr>
              <a:t>•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방을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뺐는데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주소록을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안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지우면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,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이미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반납한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방을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또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반납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(</a:t>
            </a:r>
            <a:r>
              <a:rPr sz="1200" b="1" dirty="0">
                <a:solidFill>
                  <a:srgbClr val="000000"/>
                </a:solidFill>
                <a:latin typeface="Malgun Gothic"/>
              </a:rPr>
              <a:t>Double Free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)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하거나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잘못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찾아가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(</a:t>
            </a:r>
            <a:r>
              <a:rPr sz="1200" b="1" dirty="0">
                <a:solidFill>
                  <a:srgbClr val="000000"/>
                </a:solidFill>
                <a:latin typeface="Malgun Gothic"/>
              </a:rPr>
              <a:t>Use-After-Free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)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강제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Malgun Gothic"/>
              </a:rPr>
              <a:t>종료됨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80197" y="2597327"/>
            <a:ext cx="4621841" cy="15292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1350" dirty="0">
                <a:solidFill>
                  <a:srgbClr val="FF7B72"/>
                </a:solidFill>
                <a:latin typeface="Consolas"/>
              </a:rPr>
              <a:t>int</a:t>
            </a:r>
            <a:r>
              <a:rPr lang="en-US" altLang="ko-KR" sz="1350" dirty="0">
                <a:solidFill>
                  <a:schemeClr val="lt1"/>
                </a:solidFill>
                <a:latin typeface="Consolas"/>
              </a:rPr>
              <a:t> *</a:t>
            </a:r>
            <a:r>
              <a:rPr lang="en-US" altLang="ko-KR" sz="1350" dirty="0" err="1">
                <a:solidFill>
                  <a:schemeClr val="lt1"/>
                </a:solidFill>
                <a:latin typeface="Consolas"/>
              </a:rPr>
              <a:t>new_arr</a:t>
            </a:r>
            <a:r>
              <a:rPr lang="en-US" altLang="ko-KR" sz="1350" dirty="0">
                <a:solidFill>
                  <a:schemeClr val="lt1"/>
                </a:solidFill>
                <a:latin typeface="Consolas"/>
              </a:rPr>
              <a:t> = </a:t>
            </a:r>
            <a:r>
              <a:rPr lang="en-US" altLang="ko-KR" sz="1350" dirty="0" err="1">
                <a:solidFill>
                  <a:srgbClr val="CFA5FB"/>
                </a:solidFill>
                <a:latin typeface="Consolas"/>
              </a:rPr>
              <a:t>realloc</a:t>
            </a:r>
            <a:r>
              <a:rPr lang="en-US" altLang="ko-KR" sz="1350" dirty="0">
                <a:solidFill>
                  <a:schemeClr val="lt1"/>
                </a:solidFill>
                <a:latin typeface="Consolas"/>
              </a:rPr>
              <a:t> </a:t>
            </a:r>
            <a:r>
              <a:rPr lang="en-US" altLang="ko-KR" sz="1350" dirty="0">
                <a:solidFill>
                  <a:srgbClr val="FFD700"/>
                </a:solidFill>
                <a:latin typeface="Consolas"/>
              </a:rPr>
              <a:t>(</a:t>
            </a:r>
            <a:r>
              <a:rPr lang="en-US" altLang="ko-KR" sz="1350" dirty="0" err="1">
                <a:solidFill>
                  <a:schemeClr val="lt1"/>
                </a:solidFill>
                <a:latin typeface="Consolas"/>
              </a:rPr>
              <a:t>arr</a:t>
            </a:r>
            <a:r>
              <a:rPr lang="en-US" altLang="ko-KR" sz="1350" dirty="0">
                <a:solidFill>
                  <a:schemeClr val="lt1"/>
                </a:solidFill>
                <a:latin typeface="Consolas"/>
              </a:rPr>
              <a:t>,</a:t>
            </a:r>
            <a:r>
              <a:rPr lang="en-US" altLang="ko-KR" sz="1350" dirty="0">
                <a:solidFill>
                  <a:srgbClr val="FFD700"/>
                </a:solidFill>
                <a:latin typeface="Consolas"/>
              </a:rPr>
              <a:t> </a:t>
            </a:r>
            <a:r>
              <a:rPr lang="en-US" altLang="ko-KR" sz="1350" dirty="0">
                <a:solidFill>
                  <a:srgbClr val="B4CCA7"/>
                </a:solidFill>
                <a:latin typeface="Consolas"/>
              </a:rPr>
              <a:t>20</a:t>
            </a:r>
            <a:r>
              <a:rPr lang="en-US" altLang="ko-KR" sz="1350" dirty="0">
                <a:solidFill>
                  <a:schemeClr val="lt1"/>
                </a:solidFill>
                <a:latin typeface="Consolas"/>
              </a:rPr>
              <a:t> * </a:t>
            </a:r>
            <a:r>
              <a:rPr lang="en-US" altLang="ko-KR" sz="1350" dirty="0" err="1">
                <a:solidFill>
                  <a:srgbClr val="4E9BD5"/>
                </a:solidFill>
                <a:latin typeface="Consolas"/>
              </a:rPr>
              <a:t>sizeof</a:t>
            </a:r>
            <a:r>
              <a:rPr lang="en-US" altLang="ko-KR" sz="1350" dirty="0">
                <a:solidFill>
                  <a:srgbClr val="FFD700"/>
                </a:solidFill>
                <a:latin typeface="Consolas"/>
              </a:rPr>
              <a:t>(</a:t>
            </a:r>
            <a:r>
              <a:rPr lang="en-US" altLang="ko-KR" sz="1350" dirty="0">
                <a:solidFill>
                  <a:srgbClr val="FF7B72"/>
                </a:solidFill>
                <a:latin typeface="Consolas"/>
              </a:rPr>
              <a:t>int</a:t>
            </a:r>
            <a:r>
              <a:rPr lang="en-US" altLang="ko-KR" sz="1350" dirty="0">
                <a:solidFill>
                  <a:srgbClr val="FFD700"/>
                </a:solidFill>
                <a:latin typeface="Consolas"/>
              </a:rPr>
              <a:t>))</a:t>
            </a:r>
            <a:r>
              <a:rPr lang="en-US" altLang="ko-KR" sz="1350" dirty="0">
                <a:solidFill>
                  <a:schemeClr val="lt1"/>
                </a:solidFill>
                <a:latin typeface="Consolas"/>
              </a:rPr>
              <a:t>;</a:t>
            </a:r>
          </a:p>
          <a:p>
            <a:pPr>
              <a:defRPr/>
            </a:pPr>
            <a:r>
              <a:rPr lang="en-US" altLang="ko-KR" sz="1350" dirty="0">
                <a:solidFill>
                  <a:srgbClr val="8B949E"/>
                </a:solidFill>
                <a:latin typeface="Consolas"/>
              </a:rPr>
              <a:t>// </a:t>
            </a:r>
            <a:r>
              <a:rPr lang="en-US" altLang="ko-KR" sz="1350" dirty="0" err="1">
                <a:solidFill>
                  <a:srgbClr val="8B949E"/>
                </a:solidFill>
                <a:latin typeface="Consolas"/>
              </a:rPr>
              <a:t>arr</a:t>
            </a:r>
            <a:r>
              <a:rPr lang="ko-KR" altLang="en-US" sz="1350" dirty="0">
                <a:solidFill>
                  <a:srgbClr val="8B949E"/>
                </a:solidFill>
                <a:latin typeface="Consolas"/>
              </a:rPr>
              <a:t>의 메모리 공간을 </a:t>
            </a:r>
            <a:r>
              <a:rPr lang="en-US" altLang="ko-KR" sz="1350" dirty="0">
                <a:solidFill>
                  <a:srgbClr val="8B949E"/>
                </a:solidFill>
                <a:latin typeface="Consolas"/>
              </a:rPr>
              <a:t>80byte</a:t>
            </a:r>
            <a:r>
              <a:rPr lang="ko-KR" altLang="en-US" sz="1350" dirty="0">
                <a:solidFill>
                  <a:srgbClr val="8B949E"/>
                </a:solidFill>
                <a:latin typeface="Consolas"/>
              </a:rPr>
              <a:t>로 변경함</a:t>
            </a:r>
            <a:r>
              <a:rPr lang="en-US" altLang="ko-KR" sz="1350" dirty="0">
                <a:solidFill>
                  <a:srgbClr val="8B949E"/>
                </a:solidFill>
                <a:latin typeface="Consolas"/>
              </a:rPr>
              <a:t>.</a:t>
            </a:r>
          </a:p>
          <a:p>
            <a:pPr>
              <a:defRPr/>
            </a:pPr>
            <a:endParaRPr lang="en-US" altLang="ko-KR" sz="1350" dirty="0">
              <a:solidFill>
                <a:srgbClr val="8B949E"/>
              </a:solidFill>
              <a:latin typeface="Consolas"/>
            </a:endParaRPr>
          </a:p>
          <a:p>
            <a:pPr>
              <a:defRPr/>
            </a:pPr>
            <a:r>
              <a:rPr lang="en-US" altLang="ko-KR" sz="1350" dirty="0">
                <a:solidFill>
                  <a:srgbClr val="CFA5ED"/>
                </a:solidFill>
                <a:latin typeface="Consolas"/>
              </a:rPr>
              <a:t>if</a:t>
            </a:r>
            <a:r>
              <a:rPr lang="en-US" altLang="ko-KR" sz="1350" dirty="0">
                <a:solidFill>
                  <a:srgbClr val="8B949E"/>
                </a:solidFill>
                <a:latin typeface="Consolas"/>
              </a:rPr>
              <a:t> </a:t>
            </a:r>
            <a:r>
              <a:rPr lang="en-US" altLang="ko-KR" sz="1350" dirty="0">
                <a:solidFill>
                  <a:srgbClr val="DA70D6"/>
                </a:solidFill>
                <a:latin typeface="Consolas"/>
              </a:rPr>
              <a:t>(</a:t>
            </a:r>
            <a:r>
              <a:rPr lang="en-US" altLang="ko-KR" sz="1350" dirty="0" err="1">
                <a:solidFill>
                  <a:schemeClr val="lt1"/>
                </a:solidFill>
                <a:latin typeface="Consolas"/>
              </a:rPr>
              <a:t>new_arr</a:t>
            </a:r>
            <a:r>
              <a:rPr lang="en-US" altLang="ko-KR" sz="1350" dirty="0">
                <a:solidFill>
                  <a:srgbClr val="8B949E"/>
                </a:solidFill>
                <a:latin typeface="Consolas"/>
              </a:rPr>
              <a:t> </a:t>
            </a:r>
            <a:r>
              <a:rPr lang="en-US" altLang="ko-KR" sz="1350" dirty="0">
                <a:solidFill>
                  <a:schemeClr val="lt1"/>
                </a:solidFill>
                <a:latin typeface="Consolas"/>
              </a:rPr>
              <a:t>!=</a:t>
            </a:r>
            <a:r>
              <a:rPr lang="en-US" altLang="ko-KR" sz="1350" dirty="0">
                <a:solidFill>
                  <a:srgbClr val="8B949E"/>
                </a:solidFill>
                <a:latin typeface="Consolas"/>
              </a:rPr>
              <a:t> </a:t>
            </a:r>
            <a:r>
              <a:rPr lang="en-US" altLang="ko-KR" sz="1350" dirty="0">
                <a:solidFill>
                  <a:srgbClr val="4E9BD5"/>
                </a:solidFill>
                <a:latin typeface="Consolas"/>
              </a:rPr>
              <a:t>NULL</a:t>
            </a:r>
            <a:r>
              <a:rPr lang="en-US" altLang="ko-KR" sz="1350" dirty="0">
                <a:solidFill>
                  <a:srgbClr val="DA70D6"/>
                </a:solidFill>
                <a:latin typeface="Consolas"/>
              </a:rPr>
              <a:t>) {</a:t>
            </a:r>
            <a:endParaRPr lang="en-US" altLang="ko-KR" sz="1350" dirty="0">
              <a:solidFill>
                <a:srgbClr val="8B949E"/>
              </a:solidFill>
              <a:latin typeface="Consolas"/>
            </a:endParaRPr>
          </a:p>
          <a:p>
            <a:pPr>
              <a:defRPr/>
            </a:pPr>
            <a:r>
              <a:rPr lang="en-US" altLang="ko-KR" sz="1350" dirty="0">
                <a:solidFill>
                  <a:srgbClr val="8B949E"/>
                </a:solidFill>
                <a:latin typeface="Consolas"/>
              </a:rPr>
              <a:t>    </a:t>
            </a:r>
            <a:r>
              <a:rPr lang="en-US" altLang="ko-KR" sz="1350" dirty="0" err="1">
                <a:solidFill>
                  <a:schemeClr val="lt1"/>
                </a:solidFill>
                <a:latin typeface="Consolas"/>
              </a:rPr>
              <a:t>arr</a:t>
            </a:r>
            <a:r>
              <a:rPr lang="en-US" altLang="ko-KR" sz="1350" dirty="0">
                <a:solidFill>
                  <a:schemeClr val="lt1"/>
                </a:solidFill>
                <a:latin typeface="Consolas"/>
              </a:rPr>
              <a:t> = </a:t>
            </a:r>
            <a:r>
              <a:rPr lang="en-US" altLang="ko-KR" sz="1350" dirty="0" err="1">
                <a:solidFill>
                  <a:schemeClr val="lt1"/>
                </a:solidFill>
                <a:latin typeface="Consolas"/>
              </a:rPr>
              <a:t>new_arr</a:t>
            </a:r>
            <a:r>
              <a:rPr lang="en-US" altLang="ko-KR" sz="1350" dirty="0">
                <a:solidFill>
                  <a:schemeClr val="lt1"/>
                </a:solidFill>
                <a:latin typeface="Consolas"/>
              </a:rPr>
              <a:t>;</a:t>
            </a:r>
            <a:endParaRPr lang="en-US" altLang="ko-KR" sz="1350" dirty="0">
              <a:solidFill>
                <a:srgbClr val="8B949E"/>
              </a:solidFill>
              <a:latin typeface="Consolas"/>
            </a:endParaRPr>
          </a:p>
          <a:p>
            <a:pPr>
              <a:defRPr/>
            </a:pPr>
            <a:r>
              <a:rPr lang="en-US" altLang="ko-KR" sz="1350" dirty="0">
                <a:solidFill>
                  <a:srgbClr val="DA70D6"/>
                </a:solidFill>
                <a:latin typeface="Consolas"/>
              </a:rPr>
              <a:t>}</a:t>
            </a:r>
            <a:endParaRPr lang="en-US" altLang="ko-KR" sz="1350" dirty="0">
              <a:solidFill>
                <a:srgbClr val="8B949E"/>
              </a:solidFill>
              <a:latin typeface="Consolas"/>
            </a:endParaRPr>
          </a:p>
          <a:p>
            <a:pPr>
              <a:defRPr/>
            </a:pPr>
            <a:r>
              <a:rPr lang="en-US" altLang="ko-KR" sz="1350" dirty="0">
                <a:solidFill>
                  <a:srgbClr val="8B949E"/>
                </a:solidFill>
                <a:latin typeface="Consolas"/>
              </a:rPr>
              <a:t>//</a:t>
            </a:r>
            <a:r>
              <a:rPr lang="ko-KR" altLang="en-US" sz="1350" dirty="0">
                <a:solidFill>
                  <a:srgbClr val="8B949E"/>
                </a:solidFill>
                <a:latin typeface="Consolas"/>
              </a:rPr>
              <a:t>새 메모리 공간으로 업데이트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76850" y="2687330"/>
            <a:ext cx="4320540" cy="11188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1350" dirty="0">
                <a:solidFill>
                  <a:srgbClr val="CFA5ED"/>
                </a:solidFill>
                <a:latin typeface="Consolas"/>
              </a:rPr>
              <a:t>free</a:t>
            </a:r>
            <a:r>
              <a:rPr lang="en-US" altLang="ko-KR" sz="1350" dirty="0">
                <a:solidFill>
                  <a:srgbClr val="4E9BD5"/>
                </a:solidFill>
                <a:latin typeface="Consolas"/>
              </a:rPr>
              <a:t>(</a:t>
            </a:r>
            <a:r>
              <a:rPr lang="en-US" altLang="ko-KR" sz="1350" dirty="0" err="1">
                <a:solidFill>
                  <a:schemeClr val="lt1"/>
                </a:solidFill>
                <a:latin typeface="Consolas"/>
              </a:rPr>
              <a:t>arr</a:t>
            </a:r>
            <a:r>
              <a:rPr lang="en-US" altLang="ko-KR" sz="1350" dirty="0">
                <a:solidFill>
                  <a:srgbClr val="4E9BD5"/>
                </a:solidFill>
                <a:latin typeface="Consolas"/>
              </a:rPr>
              <a:t>);</a:t>
            </a:r>
          </a:p>
          <a:p>
            <a:pPr>
              <a:defRPr/>
            </a:pPr>
            <a:r>
              <a:rPr lang="en-US" altLang="ko-KR" sz="1350" dirty="0">
                <a:solidFill>
                  <a:srgbClr val="8B949E"/>
                </a:solidFill>
                <a:latin typeface="Consolas"/>
              </a:rPr>
              <a:t>//</a:t>
            </a:r>
            <a:r>
              <a:rPr lang="en-US" altLang="ko-KR" sz="1350" dirty="0" err="1">
                <a:solidFill>
                  <a:srgbClr val="8B949E"/>
                </a:solidFill>
                <a:latin typeface="Consolas"/>
              </a:rPr>
              <a:t>arr</a:t>
            </a:r>
            <a:r>
              <a:rPr lang="ko-KR" altLang="en-US" sz="1350" dirty="0">
                <a:solidFill>
                  <a:srgbClr val="8B949E"/>
                </a:solidFill>
                <a:latin typeface="Consolas"/>
              </a:rPr>
              <a:t>을 할당 해제</a:t>
            </a:r>
            <a:r>
              <a:rPr lang="en-US" altLang="ko-KR" sz="1350" dirty="0">
                <a:solidFill>
                  <a:srgbClr val="8B949E"/>
                </a:solidFill>
                <a:latin typeface="Consolas"/>
              </a:rPr>
              <a:t>.</a:t>
            </a:r>
          </a:p>
          <a:p>
            <a:pPr>
              <a:defRPr/>
            </a:pPr>
            <a:endParaRPr lang="en-US" altLang="ko-KR" sz="1350" dirty="0">
              <a:solidFill>
                <a:srgbClr val="8B949E"/>
              </a:solidFill>
              <a:latin typeface="Consolas"/>
            </a:endParaRPr>
          </a:p>
          <a:p>
            <a:pPr>
              <a:defRPr/>
            </a:pPr>
            <a:r>
              <a:rPr lang="en-US" altLang="ko-KR" sz="1350" dirty="0" err="1">
                <a:solidFill>
                  <a:schemeClr val="lt1"/>
                </a:solidFill>
                <a:latin typeface="Consolas"/>
              </a:rPr>
              <a:t>arr</a:t>
            </a:r>
            <a:r>
              <a:rPr lang="en-US" altLang="ko-KR" sz="1350" dirty="0">
                <a:solidFill>
                  <a:schemeClr val="lt1"/>
                </a:solidFill>
                <a:latin typeface="Consolas"/>
              </a:rPr>
              <a:t> = </a:t>
            </a:r>
            <a:r>
              <a:rPr lang="en-US" altLang="ko-KR" sz="1350" dirty="0">
                <a:solidFill>
                  <a:srgbClr val="4E9BD5"/>
                </a:solidFill>
                <a:latin typeface="Consolas"/>
              </a:rPr>
              <a:t>NULL</a:t>
            </a:r>
            <a:r>
              <a:rPr lang="en-US" altLang="ko-KR" sz="1350" dirty="0">
                <a:solidFill>
                  <a:schemeClr val="lt1"/>
                </a:solidFill>
                <a:latin typeface="Consolas"/>
              </a:rPr>
              <a:t>;</a:t>
            </a:r>
          </a:p>
          <a:p>
            <a:pPr>
              <a:defRPr/>
            </a:pPr>
            <a:r>
              <a:rPr lang="en-US" altLang="ko-KR" sz="1350" dirty="0">
                <a:solidFill>
                  <a:srgbClr val="8B949E"/>
                </a:solidFill>
                <a:latin typeface="Consolas"/>
              </a:rPr>
              <a:t>//</a:t>
            </a:r>
            <a:r>
              <a:rPr lang="en-US" altLang="ko-KR" sz="1350" dirty="0" err="1">
                <a:solidFill>
                  <a:srgbClr val="8B949E"/>
                </a:solidFill>
                <a:latin typeface="Consolas"/>
              </a:rPr>
              <a:t>arr</a:t>
            </a:r>
            <a:r>
              <a:rPr lang="ko-KR" altLang="en-US" sz="1350" dirty="0">
                <a:solidFill>
                  <a:srgbClr val="8B949E"/>
                </a:solidFill>
                <a:latin typeface="Consolas"/>
              </a:rPr>
              <a:t>을 실수로 사용하는 것을 방지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2147483647000000000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2147483647000000000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2147483647000000000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2147483647000000000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736</Words>
  <Application>Microsoft Office PowerPoint</Application>
  <PresentationFormat>와이드스크린</PresentationFormat>
  <Paragraphs>74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Malgun Gothic</vt:lpstr>
      <vt:lpstr>Malgun Gothic</vt:lpstr>
      <vt:lpstr>Arial</vt:lpstr>
      <vt:lpstr>Consolas</vt:lpstr>
      <vt:lpstr>Office 테마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MyeongJun Kim</dc:creator>
  <cp:lastModifiedBy>MyeongJun Kim</cp:lastModifiedBy>
  <cp:revision>64</cp:revision>
  <dcterms:created xsi:type="dcterms:W3CDTF">2026-09-16T05:34:12Z</dcterms:created>
  <dcterms:modified xsi:type="dcterms:W3CDTF">2026-10-01T01:49:05Z</dcterms:modified>
  <cp:version>1000.0000.01</cp:version>
</cp:coreProperties>
</file>